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670550" cx="10080625"/>
  <p:notesSz cx="7559675" cy="10691800"/>
  <p:embeddedFontLst>
    <p:embeddedFont>
      <p:font typeface="No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dBCvFZXDUsSAb3or+UtHkORkf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regular.fntdata"/><Relationship Id="rId11" Type="http://schemas.openxmlformats.org/officeDocument/2006/relationships/slide" Target="slides/slide6.xml"/><Relationship Id="rId22" Type="http://schemas.openxmlformats.org/officeDocument/2006/relationships/font" Target="fonts/NotoSans-italic.fntdata"/><Relationship Id="rId10" Type="http://schemas.openxmlformats.org/officeDocument/2006/relationships/slide" Target="slides/slide5.xml"/><Relationship Id="rId21" Type="http://schemas.openxmlformats.org/officeDocument/2006/relationships/font" Target="fonts/No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Noto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217488" y="801688"/>
            <a:ext cx="7126287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720000" y="144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720000" y="144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7200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2" type="body"/>
          </p:nvPr>
        </p:nvSpPr>
        <p:spPr>
          <a:xfrm>
            <a:off x="53316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idx="1" type="subTitle"/>
          </p:nvPr>
        </p:nvSpPr>
        <p:spPr>
          <a:xfrm>
            <a:off x="720000" y="180000"/>
            <a:ext cx="9000000" cy="50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00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2" type="body"/>
          </p:nvPr>
        </p:nvSpPr>
        <p:spPr>
          <a:xfrm>
            <a:off x="53316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3" type="body"/>
          </p:nvPr>
        </p:nvSpPr>
        <p:spPr>
          <a:xfrm>
            <a:off x="7200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7200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2" type="body"/>
          </p:nvPr>
        </p:nvSpPr>
        <p:spPr>
          <a:xfrm>
            <a:off x="53316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3" type="body"/>
          </p:nvPr>
        </p:nvSpPr>
        <p:spPr>
          <a:xfrm>
            <a:off x="53316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7200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53316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3" type="body"/>
          </p:nvPr>
        </p:nvSpPr>
        <p:spPr>
          <a:xfrm>
            <a:off x="720000" y="3226680"/>
            <a:ext cx="900000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720000" y="1440000"/>
            <a:ext cx="900000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2" type="body"/>
          </p:nvPr>
        </p:nvSpPr>
        <p:spPr>
          <a:xfrm>
            <a:off x="720000" y="3226680"/>
            <a:ext cx="900000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" type="body"/>
          </p:nvPr>
        </p:nvSpPr>
        <p:spPr>
          <a:xfrm>
            <a:off x="7200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2" type="body"/>
          </p:nvPr>
        </p:nvSpPr>
        <p:spPr>
          <a:xfrm>
            <a:off x="53316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3" type="body"/>
          </p:nvPr>
        </p:nvSpPr>
        <p:spPr>
          <a:xfrm>
            <a:off x="7200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4" type="body"/>
          </p:nvPr>
        </p:nvSpPr>
        <p:spPr>
          <a:xfrm>
            <a:off x="53316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720000" y="144000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2" type="body"/>
          </p:nvPr>
        </p:nvSpPr>
        <p:spPr>
          <a:xfrm>
            <a:off x="3763080" y="144000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3" type="body"/>
          </p:nvPr>
        </p:nvSpPr>
        <p:spPr>
          <a:xfrm>
            <a:off x="6805800" y="144000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4" type="body"/>
          </p:nvPr>
        </p:nvSpPr>
        <p:spPr>
          <a:xfrm>
            <a:off x="720000" y="322668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5" type="body"/>
          </p:nvPr>
        </p:nvSpPr>
        <p:spPr>
          <a:xfrm>
            <a:off x="3763080" y="322668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6" type="body"/>
          </p:nvPr>
        </p:nvSpPr>
        <p:spPr>
          <a:xfrm>
            <a:off x="6805800" y="322668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720000" y="144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idx="1" type="subTitle"/>
          </p:nvPr>
        </p:nvSpPr>
        <p:spPr>
          <a:xfrm>
            <a:off x="720000" y="180000"/>
            <a:ext cx="9000000" cy="50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" type="subTitle"/>
          </p:nvPr>
        </p:nvSpPr>
        <p:spPr>
          <a:xfrm>
            <a:off x="720000" y="144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>
            <a:off x="7200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2" type="body"/>
          </p:nvPr>
        </p:nvSpPr>
        <p:spPr>
          <a:xfrm>
            <a:off x="53316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4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5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" type="body"/>
          </p:nvPr>
        </p:nvSpPr>
        <p:spPr>
          <a:xfrm>
            <a:off x="7200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2" type="body"/>
          </p:nvPr>
        </p:nvSpPr>
        <p:spPr>
          <a:xfrm>
            <a:off x="53316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3" type="body"/>
          </p:nvPr>
        </p:nvSpPr>
        <p:spPr>
          <a:xfrm>
            <a:off x="7200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" type="body"/>
          </p:nvPr>
        </p:nvSpPr>
        <p:spPr>
          <a:xfrm>
            <a:off x="720000" y="1440000"/>
            <a:ext cx="439164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2" type="body"/>
          </p:nvPr>
        </p:nvSpPr>
        <p:spPr>
          <a:xfrm>
            <a:off x="53316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3" type="body"/>
          </p:nvPr>
        </p:nvSpPr>
        <p:spPr>
          <a:xfrm>
            <a:off x="53316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7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" type="body"/>
          </p:nvPr>
        </p:nvSpPr>
        <p:spPr>
          <a:xfrm>
            <a:off x="7200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2" type="body"/>
          </p:nvPr>
        </p:nvSpPr>
        <p:spPr>
          <a:xfrm>
            <a:off x="53316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3" type="body"/>
          </p:nvPr>
        </p:nvSpPr>
        <p:spPr>
          <a:xfrm>
            <a:off x="720000" y="3226680"/>
            <a:ext cx="900000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8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720000" y="1440000"/>
            <a:ext cx="900000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2" type="body"/>
          </p:nvPr>
        </p:nvSpPr>
        <p:spPr>
          <a:xfrm>
            <a:off x="720000" y="3226680"/>
            <a:ext cx="900000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" type="body"/>
          </p:nvPr>
        </p:nvSpPr>
        <p:spPr>
          <a:xfrm>
            <a:off x="7200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2" type="body"/>
          </p:nvPr>
        </p:nvSpPr>
        <p:spPr>
          <a:xfrm>
            <a:off x="5331600" y="144000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3" type="body"/>
          </p:nvPr>
        </p:nvSpPr>
        <p:spPr>
          <a:xfrm>
            <a:off x="7200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9"/>
          <p:cNvSpPr txBox="1"/>
          <p:nvPr>
            <p:ph idx="4" type="body"/>
          </p:nvPr>
        </p:nvSpPr>
        <p:spPr>
          <a:xfrm>
            <a:off x="5331600" y="3226680"/>
            <a:ext cx="4391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0"/>
          <p:cNvSpPr txBox="1"/>
          <p:nvPr>
            <p:ph type="title"/>
          </p:nvPr>
        </p:nvSpPr>
        <p:spPr>
          <a:xfrm>
            <a:off x="720000" y="148320"/>
            <a:ext cx="900000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0"/>
          <p:cNvSpPr txBox="1"/>
          <p:nvPr>
            <p:ph idx="1" type="body"/>
          </p:nvPr>
        </p:nvSpPr>
        <p:spPr>
          <a:xfrm>
            <a:off x="720000" y="144000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2" type="body"/>
          </p:nvPr>
        </p:nvSpPr>
        <p:spPr>
          <a:xfrm>
            <a:off x="3763080" y="144000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3" type="body"/>
          </p:nvPr>
        </p:nvSpPr>
        <p:spPr>
          <a:xfrm>
            <a:off x="6805800" y="144000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0"/>
          <p:cNvSpPr txBox="1"/>
          <p:nvPr>
            <p:ph idx="4" type="body"/>
          </p:nvPr>
        </p:nvSpPr>
        <p:spPr>
          <a:xfrm>
            <a:off x="720000" y="322668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0"/>
          <p:cNvSpPr txBox="1"/>
          <p:nvPr>
            <p:ph idx="5" type="body"/>
          </p:nvPr>
        </p:nvSpPr>
        <p:spPr>
          <a:xfrm>
            <a:off x="3763080" y="322668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0"/>
          <p:cNvSpPr txBox="1"/>
          <p:nvPr>
            <p:ph idx="6" type="body"/>
          </p:nvPr>
        </p:nvSpPr>
        <p:spPr>
          <a:xfrm>
            <a:off x="6805800" y="3226680"/>
            <a:ext cx="2897640" cy="16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720000" y="3060000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20000" y="432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540000" y="5220000"/>
            <a:ext cx="234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420000" y="5220000"/>
            <a:ext cx="324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7200000" y="5220000"/>
            <a:ext cx="234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 </a:t>
            </a:r>
            <a:endParaRPr/>
          </a:p>
        </p:txBody>
      </p:sp>
      <p:sp>
        <p:nvSpPr>
          <p:cNvPr id="11" name="Google Shape;11;p15"/>
          <p:cNvSpPr/>
          <p:nvPr/>
        </p:nvSpPr>
        <p:spPr>
          <a:xfrm>
            <a:off x="0" y="3060000"/>
            <a:ext cx="540000" cy="1080000"/>
          </a:xfrm>
          <a:prstGeom prst="rect">
            <a:avLst/>
          </a:prstGeom>
          <a:solidFill>
            <a:srgbClr val="F1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720000" y="180000"/>
            <a:ext cx="90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720000" y="144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540000" y="5220000"/>
            <a:ext cx="234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3420000" y="5220000"/>
            <a:ext cx="324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7200000" y="5220000"/>
            <a:ext cx="234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 </a:t>
            </a:r>
            <a:endParaRPr/>
          </a:p>
        </p:txBody>
      </p:sp>
      <p:sp>
        <p:nvSpPr>
          <p:cNvPr id="66" name="Google Shape;66;p17"/>
          <p:cNvSpPr/>
          <p:nvPr/>
        </p:nvSpPr>
        <p:spPr>
          <a:xfrm>
            <a:off x="0" y="180000"/>
            <a:ext cx="540000" cy="108000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/>
        </p:nvSpPr>
        <p:spPr>
          <a:xfrm>
            <a:off x="2700000" y="2995200"/>
            <a:ext cx="6660000" cy="13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Школа: ГБОУ №2200</a:t>
            </a:r>
            <a:endParaRPr b="0" i="0" sz="20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Класс: 10 “И”</a:t>
            </a:r>
            <a:endParaRPr b="0" i="0" sz="20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ФИО: Мусин Рамиль Ильдарович, Карелин Артём Дмитриевич</a:t>
            </a:r>
            <a:endParaRPr b="0" i="0" sz="20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Руководитель: Каймашников Денис Михайлович</a:t>
            </a:r>
            <a:endParaRPr b="0" i="0" sz="20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720000" y="612000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5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Проектирование и программная реализация игры “МатРог” в жанре Рогалик</a:t>
            </a:r>
            <a:endParaRPr b="1" i="0" sz="36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4320000" y="5040000"/>
            <a:ext cx="2160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Москва, 2025</a:t>
            </a:r>
            <a:endParaRPr b="0" i="0" sz="20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Актуальность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Интерес падает в классических форматах (учебники, лекции), потому что мало динамики и мотивации. Геймификация решает это за счёт вызова, прогресса и быстрого фидбэка.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Игровые механики повышают вовлечённость и регулярность практики.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Rogue-like даёт повторяемость и мотивацию через риск/награду - </a:t>
            </a: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- подходит для навыковой тренировки.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Какую проблему решает проект?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Учащиеся теряют мотивацию при рутинной практике и быстро бросают подготовку.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Отсутствуют компактные интерактивные форматы, сочетающие случайность и обучение.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Нужен инструмент, где обучение идёт через игру: решение задач = прогресс персонажа.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Целевая аудитория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Школьники и студенты (12-14 лет), любящие игры и нуждающиеся в регулярной практике.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Учителя и репетиторы, ищущие интерактивные инструменты для занятий.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Родители, которые хотят поддержать обучение ребёнка через безопасную игровую мотивацию.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Цель работы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720000" y="1260000"/>
            <a:ext cx="864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Разработать интерактивную образовательную игру «МатРог» в жанре rogue-like для учащихся 12-14 лет, повышающую мотивацию к изучению предмета (математика/логика) через игровые механики случайной генерации уровней и прогрессии персонажа.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Задачи работы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47610" y="1251110"/>
            <a:ext cx="864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1. Проанализировать рынок образовательных игр и потребности целевой аудитории.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2. Проанализировать предметную область: темы и форматы задач.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3. Спроектировать игровые механики: уровни, награды, адаптация.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4. Спроектировать архитектуру и формат хранения контента.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5. Разработать модуль генерации уровней и проверки ответов.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6. Реализовать клиентский прототип (UI/UX).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7. Провести пользовательское тестирование и доработать баланс.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8. Подготовить документацию, демо-материалы и презентацию.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797063" y="211825"/>
            <a:ext cx="3942675" cy="651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Аналоги и конкуренты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54401" y="897586"/>
            <a:ext cx="4428000" cy="4709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MathRogue - инди-roguelike с выражениями: плюсы - оригинальная механика, минусы - мало контента.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 Blaster - классика аркад-обучалок: плюсы - простота, минусы - устаревший формат.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Counting Kingdom - математическая tower defense: плюсы - сюжет и динамика, минусы - рассчитана на младших и платная.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 rot="5400000">
            <a:off x="7061679" y="2655850"/>
            <a:ext cx="1376256" cy="4678692"/>
          </a:xfrm>
          <a:prstGeom prst="rect">
            <a:avLst/>
          </a:prstGeom>
          <a:gradFill>
            <a:gsLst>
              <a:gs pos="0">
                <a:srgbClr val="31859B"/>
              </a:gs>
              <a:gs pos="86000">
                <a:srgbClr val="4BACC6">
                  <a:alpha val="0"/>
                </a:srgbClr>
              </a:gs>
              <a:gs pos="100000">
                <a:srgbClr val="4BACC6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957166" y="0"/>
            <a:ext cx="1133029" cy="5670549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rgbClr val="4BACC6">
                  <a:alpha val="0"/>
                </a:srgbClr>
              </a:gs>
              <a:gs pos="100000">
                <a:srgbClr val="4BACC6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04552" y="-9300"/>
            <a:ext cx="4670164" cy="1094101"/>
          </a:xfrm>
          <a:prstGeom prst="rect">
            <a:avLst/>
          </a:prstGeom>
          <a:gradFill>
            <a:gsLst>
              <a:gs pos="0">
                <a:schemeClr val="accent5"/>
              </a:gs>
              <a:gs pos="52000">
                <a:srgbClr val="C0504D">
                  <a:alpha val="0"/>
                </a:srgbClr>
              </a:gs>
              <a:gs pos="100000">
                <a:srgbClr val="C0504D">
                  <a:alpha val="0"/>
                </a:srgbClr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 rot="10800000">
            <a:off x="7823096" y="2971319"/>
            <a:ext cx="2268141" cy="2708529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rgbClr val="92CCDC">
                  <a:alpha val="0"/>
                </a:srgbClr>
              </a:gs>
              <a:gs pos="100000">
                <a:srgbClr val="92CCDC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текст, снимок экрана, Шрифт, число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202" y="2838576"/>
            <a:ext cx="5057257" cy="285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1" t="12745"/>
          <a:stretch/>
        </p:blipFill>
        <p:spPr>
          <a:xfrm>
            <a:off x="5421610" y="-12269"/>
            <a:ext cx="4667543" cy="2850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Анализ предметной области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647600" y="1106926"/>
            <a:ext cx="8625900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Педагогика: короткие задачи + пошаговые объяснения.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Игровой дизайн: процедурная генерация уровней </a:t>
            </a:r>
            <a:r>
              <a:rPr lang="en-US" sz="21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→  реиграбельность</a:t>
            </a: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, механика риск/награда (мотивация</a:t>
            </a:r>
            <a:r>
              <a:rPr lang="en-US" sz="21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, перманент-прогресс (ап</a:t>
            </a:r>
            <a:r>
              <a:rPr lang="en-US" sz="21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грейды)</a:t>
            </a: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Метрики: точность по теме (%), </a:t>
            </a:r>
            <a:r>
              <a:rPr lang="en-US" sz="21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доля вернувшихся игроков через 7 дней</a:t>
            </a: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, среднее время на вопрос (индик</a:t>
            </a:r>
            <a:r>
              <a:rPr lang="en-US" sz="21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атор сложности)</a:t>
            </a: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Технологии: масштаб - Unity; БД: SQLite → PostgreSQL.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Безопасность: минимум ПД (user_id, псевдоним, метрики); токены - в env.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Проектирование проекта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720000" y="1620000"/>
            <a:ext cx="8647200" cy="3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Цель: создать обучающую игру «МатРог» - процедурные уровни + практика навыков.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ЦА: школьники 12–14 лет, учителя как вторичная аудитория.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Ключевые механики: генерация комнат с задачами, проверка ответов, награды (+XP/−XP), перманент-прогресс.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MVP: проход одной комнаты → проверка → фидбек → базовая статистика.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Срок завершения полного релизного проекта - июнь 2026 года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Инструменты разработки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Языки: С++, Unity/C#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БД: SQLite (MVP) → PostgreSQL (прод).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Инструменты: VSCode, простая CI, Visual Studio.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Разработка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1. Подготовить контент: формат вопросов (CSV/JSON).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2. Реализовать генератор комнат/уровней (C++ / Unity).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3. Сделать логику задач и проверку ответов (C++ / C#).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4. Интерфейс и сцены в Unity (игровая механика, ввод ответов).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5. Хранение и запись статистики в SQLite; подготовка миграции в Postgres.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6. Быстрое тестирование (играбельный прототип → правки → документирование).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Результат работы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Рабочий прототип (играбельная комната с задачами).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База вопросов в формате JSON/CSV + API для выдачи.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Сбор базовой аналитики: процент верно решённых задач, сессии, время на вопрос.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/>
        </p:nvSpPr>
        <p:spPr>
          <a:xfrm>
            <a:off x="720000" y="225720"/>
            <a:ext cx="8855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Планы развития</a:t>
            </a:r>
            <a:endParaRPr b="1" i="0" sz="33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20000" y="1620000"/>
            <a:ext cx="8640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ver.2: подсказки, адаптивная сложность, магазин апгрейдов.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ver.3: квесты/мультиуровни, мультимедиа в задачах, PvP/соревнования.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</a:b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Масштабирование: миграция на PostgreSQL</a:t>
            </a:r>
            <a:endParaRPr b="0" i="0" sz="2100" u="none" cap="none" strike="noStrike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/>
        </p:nvSpPr>
        <p:spPr>
          <a:xfrm>
            <a:off x="720000" y="0"/>
            <a:ext cx="9000000" cy="51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2025-10-01T23:01:00Z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2E5A73F1F8D0450DABF8F3256E3395BB_12</vt:lpwstr>
  </property>
  <property fmtid="{D5CDD505-2E9C-101B-9397-08002B2CF9AE}" pid="3" name="KSOProductBuildVer">
    <vt:lpwstr>1049-12.2.0.23147</vt:lpwstr>
  </property>
</Properties>
</file>